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5"/>
  </p:sldMasterIdLst>
  <p:notesMasterIdLst>
    <p:notesMasterId r:id="rId12"/>
  </p:notesMasterIdLst>
  <p:handoutMasterIdLst>
    <p:handoutMasterId r:id="rId13"/>
  </p:handoutMasterIdLst>
  <p:sldIdLst>
    <p:sldId id="318" r:id="rId6"/>
    <p:sldId id="327" r:id="rId7"/>
    <p:sldId id="283" r:id="rId8"/>
    <p:sldId id="333" r:id="rId9"/>
    <p:sldId id="339" r:id="rId10"/>
    <p:sldId id="342" r:id="rId1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F6FDB5"/>
    <a:srgbClr val="CC0000"/>
    <a:srgbClr val="687303"/>
    <a:srgbClr val="292929"/>
    <a:srgbClr val="FBFEE2"/>
    <a:srgbClr val="4D4D4D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9886" autoAdjust="0"/>
  </p:normalViewPr>
  <p:slideViewPr>
    <p:cSldViewPr snapToGrid="0">
      <p:cViewPr varScale="1">
        <p:scale>
          <a:sx n="111" d="100"/>
          <a:sy n="111" d="100"/>
        </p:scale>
        <p:origin x="104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193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32531369530357"/>
          <c:y val="7.8612877146151158E-2"/>
          <c:w val="0.52934950003198311"/>
          <c:h val="0.7360531070257099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Expenses to Date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B1-4FC3-9D59-78950055A5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B1-4FC3-9D59-78950055A5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B1-4FC3-9D59-78950055A51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CB1-4FC3-9D59-78950055A51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CB1-4FC3-9D59-78950055A51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CB1-4FC3-9D59-78950055A51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CB1-4FC3-9D59-78950055A51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CB1-4FC3-9D59-78950055A51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CB1-4FC3-9D59-78950055A51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0CB1-4FC3-9D59-78950055A513}"/>
              </c:ext>
            </c:extLst>
          </c:dPt>
          <c:dLbls>
            <c:dLbl>
              <c:idx val="7"/>
              <c:layout>
                <c:manualLayout>
                  <c:x val="-7.416970919548614E-18"/>
                  <c:y val="-4.500355155980714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CB1-4FC3-9D59-78950055A513}"/>
                </c:ext>
              </c:extLst>
            </c:dLbl>
            <c:dLbl>
              <c:idx val="9"/>
              <c:layout>
                <c:manualLayout>
                  <c:x val="-3.7220138579712132E-2"/>
                  <c:y val="4.5003551559807155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CB1-4FC3-9D59-78950055A51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Sheet1!$A$2:$A$11</c:f>
              <c:strCache>
                <c:ptCount val="10"/>
                <c:pt idx="0">
                  <c:v>Electric</c:v>
                </c:pt>
                <c:pt idx="1">
                  <c:v>Lake Maintenance</c:v>
                </c:pt>
                <c:pt idx="2">
                  <c:v>Tree Services</c:v>
                </c:pt>
                <c:pt idx="3">
                  <c:v>Grounds Contract</c:v>
                </c:pt>
                <c:pt idx="4">
                  <c:v>Legal</c:v>
                </c:pt>
                <c:pt idx="5">
                  <c:v>Management Fees</c:v>
                </c:pt>
                <c:pt idx="6">
                  <c:v>Real Estate Taxes</c:v>
                </c:pt>
                <c:pt idx="7">
                  <c:v>Misc Admin</c:v>
                </c:pt>
                <c:pt idx="8">
                  <c:v>Reserve Funding</c:v>
                </c:pt>
                <c:pt idx="9">
                  <c:v>Insurance</c:v>
                </c:pt>
              </c:strCache>
            </c:strRef>
          </c:cat>
          <c:val>
            <c:numRef>
              <c:f>Sheet1!$B$2:$B$11</c:f>
              <c:numCache>
                <c:formatCode>#,##0.00</c:formatCode>
                <c:ptCount val="10"/>
                <c:pt idx="0">
                  <c:v>4137.01</c:v>
                </c:pt>
                <c:pt idx="1">
                  <c:v>10488.37</c:v>
                </c:pt>
                <c:pt idx="2">
                  <c:v>0</c:v>
                </c:pt>
                <c:pt idx="3">
                  <c:v>48089.91</c:v>
                </c:pt>
                <c:pt idx="4">
                  <c:v>2044</c:v>
                </c:pt>
                <c:pt idx="5">
                  <c:v>8350</c:v>
                </c:pt>
                <c:pt idx="6">
                  <c:v>1244</c:v>
                </c:pt>
                <c:pt idx="7">
                  <c:v>2576</c:v>
                </c:pt>
                <c:pt idx="8">
                  <c:v>21666.7</c:v>
                </c:pt>
                <c:pt idx="9">
                  <c:v>4216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4-4695-AD6B-C8227BB1222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8AFB7E-7DBD-4A83-A99D-81EC690F09A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t" anchorCtr="0" compatLnSpc="1">
            <a:prstTxWarp prst="textNoShape">
              <a:avLst/>
            </a:prstTxWarp>
          </a:bodyPr>
          <a:lstStyle>
            <a:lvl1pPr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3F215-721F-4EC8-A559-645AB6E4A0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t" anchorCtr="0" compatLnSpc="1">
            <a:prstTxWarp prst="textNoShape">
              <a:avLst/>
            </a:prstTxWarp>
          </a:bodyPr>
          <a:lstStyle>
            <a:lvl1pPr algn="r"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E5C0460-7CD3-4097-ABF9-807BD1DF2F7E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B14F6-2AD7-412D-922E-FF28B1566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b" anchorCtr="0" compatLnSpc="1">
            <a:prstTxWarp prst="textNoShape">
              <a:avLst/>
            </a:prstTxWarp>
          </a:bodyPr>
          <a:lstStyle>
            <a:lvl1pPr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E3E0C-2F64-40DC-9DBE-D91A4EFD03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fld id="{0F8646FD-7B5D-4965-BDE5-8DDDC408D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AAE6CE-982A-4B7C-96EC-060180A711A6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t" anchorCtr="0" compatLnSpc="1">
            <a:prstTxWarp prst="textNoShape">
              <a:avLst/>
            </a:prstTxWarp>
          </a:bodyPr>
          <a:lstStyle>
            <a:lvl1pPr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0F02D-DEAB-406C-9FE1-9E227ED14826}"/>
              </a:ext>
            </a:extLst>
          </p:cNvPr>
          <p:cNvSpPr>
            <a:spLocks noGrp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t" anchorCtr="0" compatLnSpc="1">
            <a:prstTxWarp prst="textNoShape">
              <a:avLst/>
            </a:prstTxWarp>
          </a:bodyPr>
          <a:lstStyle>
            <a:lvl1pPr algn="r"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9BD646D-C7C5-494D-9D6F-03892A35DBD5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DC230-D254-4C63-ADF1-AD9A2BDD0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1" rIns="91404" bIns="4570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FDCD8B-57C4-45F0-B432-157874D6F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75CFB-A278-4048-95FE-7ABE52A366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b" anchorCtr="0" compatLnSpc="1">
            <a:prstTxWarp prst="textNoShape">
              <a:avLst/>
            </a:prstTxWarp>
          </a:bodyPr>
          <a:lstStyle>
            <a:lvl1pPr defTabSz="931493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AA665-58F7-493C-8F5E-E5ABAD7A7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0" tIns="46571" rIns="93140" bIns="46571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/>
            </a:lvl1pPr>
          </a:lstStyle>
          <a:p>
            <a:fld id="{128F8B57-7F1C-4558-9769-ADAAA94C9E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3264-9556-46C8-91F6-518A09B1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DA363-03D0-4D12-8BBA-88E4155BF90B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D9F37-76A0-437A-BCB6-A1AE8E77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6163F-17A9-4AA5-AA0C-E74D1272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EEC5A-EA5F-43D5-AF02-EF013277E2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99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7519-1C46-4BD1-9F7B-98236D3F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11EAE-EEE6-4CB9-8206-26B269B4632E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49D9-715E-4AA7-91CE-8186F9D2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6451-D92C-46A2-9E95-505F0742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51F05-27CF-493F-8BC0-BCBB2B50B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52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CD8F6-96AC-4F36-8162-79CBEADC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80DA5-1BD4-47D2-96AB-8E63448B1D92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4BF9-D2DE-44DA-BE8E-327F9710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78F2C-0274-4231-8B80-C97E1F8E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AE9FB-A1B3-4889-84CB-566E6AFEB8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41461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C9BDCA-9AE6-42BE-AF1D-937D5ED5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CC09E-287A-4EC0-8264-5A0AA48F52DA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9C3D6C-8558-4FF1-84DC-6DDCC50D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A31194-50DA-4C74-B119-D7903095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54280-841C-4229-981D-BF45BDB8A6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96791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BD6054-D590-4D30-B064-C7699BD1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2CA04-5302-4E7F-8BCC-06829123AA88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36C47D-419A-4D80-BE5D-54633BDE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13F885-DA79-4872-AE22-E039D90C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1A8BE-CB85-4430-9FA5-8D7A0F94F0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5626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5B4C465-F53F-452E-967F-DED1DB0D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08BC8-8544-4E0C-A04F-E843B2876297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ACB7DAA-64F5-4AC3-BA91-946E07C4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38A85A-5C56-49C7-91DD-039D8A7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D76E6C-EECA-4C18-B42A-43ABB4ABE8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494136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561AC8-7DD2-4C73-827C-E32B797C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B5F30-137E-4871-B9AD-0A7D29AF8B15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36F1875-6F81-41FD-B0E9-7081FE2D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4B83E2B-AE0F-4369-9EB7-4FBBCD04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E8CDE-72D2-4AA5-81A5-6B6CCDC4ED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59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220B8D-EC30-4055-B25F-7797F059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66C25F-22A8-4BD6-9248-237FD507236D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6091CF-5A2A-4E83-A00C-89CCB2C1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902C3D-AE5C-4C39-AB2D-94A2E275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586A2-DB40-45C5-8F3C-E6E5886D28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3534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D8D51DE-0098-4B4A-9199-69599D56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94BD0-E285-439F-9706-2450ED581449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F48F5B-D564-4D86-86A4-2D89572E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C0C095-E7E9-4A1A-BC44-12DC43CE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6F248-86FE-4771-BE93-9E4D947F41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38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4D18-6EBF-44C5-953F-49348A4A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126B5-8474-4042-B076-349B1F9B8A3F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A79D2-6240-4692-8B84-DE8789C4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A664B-0AD4-4416-B7B6-52F0065C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5414FC-0A65-46C8-9721-5DFB660562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46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B8D38-C129-4A08-97DA-31FB9056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247BD-FA95-44ED-88D7-92AEB8A8B03B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683DB-EC86-4C35-B945-BA9351FC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1087-FD39-476B-8E90-701ADF44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D95347-C284-4837-A4BF-2001A2E3A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59009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5828E3-0839-476E-A8F6-2E7D2C646E5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B2DA5B0-E114-4CCB-B10C-FFC5355643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105A4-AE2A-4787-9E11-CA3B853CD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B6D7067-F7CF-4869-B209-94501F485D1E}" type="datetime1">
              <a:rPr lang="en-US"/>
              <a:pPr>
                <a:defRPr/>
              </a:pPr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22FB-0EFD-4DD4-A17B-B7A2FE471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EA014-41ED-4EB4-9BBB-C2266F256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BE4EE23-7986-4C07-8608-C5F05B8CFEE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5">
            <a:extLst>
              <a:ext uri="{FF2B5EF4-FFF2-40B4-BE49-F238E27FC236}">
                <a16:creationId xmlns:a16="http://schemas.microsoft.com/office/drawing/2014/main" id="{4654C0E8-3AEC-45FF-82A3-94E921D9244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94481" y="2236787"/>
            <a:ext cx="8555037" cy="11922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Kable’s Mill</a:t>
            </a:r>
            <a:br>
              <a:rPr lang="en-US" altLang="en-US" dirty="0"/>
            </a:br>
            <a:r>
              <a:rPr lang="en-US" altLang="en-US" dirty="0"/>
              <a:t>Annual Meeting</a:t>
            </a:r>
          </a:p>
        </p:txBody>
      </p:sp>
      <p:sp>
        <p:nvSpPr>
          <p:cNvPr id="2051" name="Subtitle 3">
            <a:extLst>
              <a:ext uri="{FF2B5EF4-FFF2-40B4-BE49-F238E27FC236}">
                <a16:creationId xmlns:a16="http://schemas.microsoft.com/office/drawing/2014/main" id="{A9DAD05E-6FDD-4BE1-B584-E5AD22F9F7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71599" y="3643822"/>
            <a:ext cx="6400800" cy="752475"/>
          </a:xfrm>
        </p:spPr>
        <p:txBody>
          <a:bodyPr rtlCol="0">
            <a:normAutofit fontScale="92500" lnSpcReduction="20000"/>
          </a:bodyPr>
          <a:lstStyle/>
          <a:p>
            <a:pPr marL="0" indent="0" algn="ct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en-US" sz="2400" dirty="0"/>
          </a:p>
          <a:p>
            <a:pPr marL="0" indent="0" algn="ctr" eaLnBrk="1" fontAlgn="auto" hangingPunct="1">
              <a:lnSpc>
                <a:spcPct val="80000"/>
              </a:lnSpc>
              <a:spcAft>
                <a:spcPts val="0"/>
              </a:spcAft>
              <a:buNone/>
              <a:defRPr/>
            </a:pPr>
            <a:r>
              <a:rPr lang="en-US" altLang="en-US" dirty="0"/>
              <a:t>November 12, 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0DCDCF-5C5C-4B5F-A389-0AF898EE4FB5}"/>
              </a:ext>
            </a:extLst>
          </p:cNvPr>
          <p:cNvSpPr/>
          <p:nvPr/>
        </p:nvSpPr>
        <p:spPr>
          <a:xfrm>
            <a:off x="92279" y="109057"/>
            <a:ext cx="8925886" cy="66273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D65B1C8-3E6D-4632-9E7B-4FE830C4FB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71888" y="125413"/>
            <a:ext cx="5472112" cy="468312"/>
          </a:xfrm>
        </p:spPr>
        <p:txBody>
          <a:bodyPr/>
          <a:lstStyle/>
          <a:p>
            <a:pPr algn="r" eaLnBrk="1" hangingPunct="1"/>
            <a:r>
              <a:rPr lang="en-US" altLang="en-US" sz="2000" dirty="0"/>
              <a:t>Annual Meeting 2024</a:t>
            </a:r>
          </a:p>
        </p:txBody>
      </p:sp>
      <p:sp>
        <p:nvSpPr>
          <p:cNvPr id="67590" name="Text Box 6">
            <a:extLst>
              <a:ext uri="{FF2B5EF4-FFF2-40B4-BE49-F238E27FC236}">
                <a16:creationId xmlns:a16="http://schemas.microsoft.com/office/drawing/2014/main" id="{97DC4606-86AE-4201-B9A4-1EFCE68C5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059" y="1312863"/>
            <a:ext cx="701357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L="457200" indent="-457200" eaLnBrk="1" hangingPunct="1">
              <a:defRPr/>
            </a:pPr>
            <a:r>
              <a:rPr lang="en-GB" sz="2400" dirty="0">
                <a:latin typeface="Arial" charset="0"/>
                <a:cs typeface="Arial" charset="0"/>
              </a:rPr>
              <a:t>                  </a:t>
            </a:r>
            <a:r>
              <a:rPr lang="en-GB" sz="2400" b="1" u="sng" dirty="0">
                <a:latin typeface="Arial" charset="0"/>
                <a:cs typeface="Arial" charset="0"/>
              </a:rPr>
              <a:t>Welcome &amp; Introductions</a:t>
            </a:r>
          </a:p>
          <a:p>
            <a:pPr marL="457200" indent="-457200" eaLnBrk="1" hangingPunct="1">
              <a:defRPr/>
            </a:pPr>
            <a:endParaRPr lang="en-GB" sz="2400" b="1" u="sng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r>
              <a:rPr lang="en-GB" sz="2400" b="1" dirty="0">
                <a:latin typeface="Arial" charset="0"/>
                <a:cs typeface="Arial" charset="0"/>
              </a:rPr>
              <a:t>President:</a:t>
            </a:r>
            <a:r>
              <a:rPr lang="en-GB" sz="2400" dirty="0">
                <a:latin typeface="Arial" charset="0"/>
                <a:cs typeface="Arial" charset="0"/>
              </a:rPr>
              <a:t> John Banford			</a:t>
            </a:r>
            <a:endParaRPr lang="en-GB" sz="2400" b="1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endParaRPr lang="en-GB" sz="2400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r>
              <a:rPr lang="en-GB" sz="2400" b="1" dirty="0">
                <a:latin typeface="Arial" charset="0"/>
                <a:cs typeface="Arial" charset="0"/>
              </a:rPr>
              <a:t>Treasurer: </a:t>
            </a:r>
            <a:r>
              <a:rPr lang="en-GB" sz="2400" dirty="0">
                <a:latin typeface="Arial" charset="0"/>
                <a:cs typeface="Arial" charset="0"/>
              </a:rPr>
              <a:t>Scott Umina</a:t>
            </a:r>
          </a:p>
          <a:p>
            <a:pPr marL="457200" indent="-457200" eaLnBrk="1" hangingPunct="1">
              <a:defRPr/>
            </a:pPr>
            <a:endParaRPr lang="en-GB" sz="2400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r>
              <a:rPr lang="en-GB" sz="2400" b="1" dirty="0">
                <a:latin typeface="Arial" charset="0"/>
                <a:cs typeface="Arial" charset="0"/>
              </a:rPr>
              <a:t>Member at Large: </a:t>
            </a:r>
            <a:r>
              <a:rPr lang="en-GB" sz="2400" dirty="0">
                <a:latin typeface="Arial" charset="0"/>
                <a:cs typeface="Arial" charset="0"/>
              </a:rPr>
              <a:t>John Montavon</a:t>
            </a:r>
          </a:p>
          <a:p>
            <a:pPr marL="457200" indent="-457200" eaLnBrk="1" hangingPunct="1">
              <a:defRPr/>
            </a:pPr>
            <a:endParaRPr lang="en-GB" sz="2400" b="1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r>
              <a:rPr lang="en-GB" sz="2400" b="1" dirty="0">
                <a:latin typeface="Arial" charset="0"/>
                <a:cs typeface="Arial" charset="0"/>
              </a:rPr>
              <a:t>Towne Properties Manager: </a:t>
            </a:r>
            <a:r>
              <a:rPr lang="en-GB" sz="2400" dirty="0">
                <a:latin typeface="Arial" charset="0"/>
                <a:cs typeface="Arial" charset="0"/>
              </a:rPr>
              <a:t>Leslie Backus</a:t>
            </a:r>
          </a:p>
          <a:p>
            <a:pPr marL="457200" indent="-457200" eaLnBrk="1" hangingPunct="1">
              <a:defRPr/>
            </a:pPr>
            <a:endParaRPr lang="en-GB" sz="2400" dirty="0">
              <a:latin typeface="Arial" charset="0"/>
              <a:cs typeface="Arial" charset="0"/>
            </a:endParaRPr>
          </a:p>
          <a:p>
            <a:pPr marL="457200" indent="-457200" eaLnBrk="1" hangingPunct="1">
              <a:defRPr/>
            </a:pPr>
            <a:r>
              <a:rPr lang="en-GB" sz="2400" b="1" dirty="0">
                <a:latin typeface="Arial" charset="0"/>
                <a:cs typeface="Arial" charset="0"/>
              </a:rPr>
              <a:t>Towne Properties Assistant: </a:t>
            </a:r>
            <a:r>
              <a:rPr lang="en-US" sz="2400" dirty="0">
                <a:latin typeface="Arial" charset="0"/>
                <a:cs typeface="Arial" charset="0"/>
              </a:rPr>
              <a:t>Susan Hedgecoth</a:t>
            </a:r>
          </a:p>
          <a:p>
            <a:pPr marL="457200" indent="-457200" eaLnBrk="1" hangingPunct="1">
              <a:buFont typeface="Wingdings" pitchFamily="2" charset="2"/>
              <a:buChar char="Ø"/>
              <a:defRPr/>
            </a:pPr>
            <a:endParaRPr lang="en-US" sz="24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3771276-13EC-4B15-9293-290AF5C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52400"/>
            <a:ext cx="8147050" cy="701675"/>
          </a:xfrm>
        </p:spPr>
        <p:txBody>
          <a:bodyPr anchor="t"/>
          <a:lstStyle/>
          <a:p>
            <a:pPr eaLnBrk="1" hangingPunct="1"/>
            <a:r>
              <a:rPr lang="en-US" altLang="en-US" sz="1800" b="1" dirty="0"/>
              <a:t>Agenda – November 12</a:t>
            </a:r>
            <a:r>
              <a:rPr lang="en-US" altLang="en-US" sz="1800" b="1"/>
              <a:t>, 2025</a:t>
            </a:r>
            <a:endParaRPr lang="en-US" altLang="en-US" sz="1800" b="1" dirty="0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43E61A7-3C89-422C-9A76-72BC2E33D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854075"/>
            <a:ext cx="7999413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I.  </a:t>
            </a:r>
            <a:r>
              <a:rPr lang="en-US" sz="1400" dirty="0">
                <a:latin typeface="Arial" charset="0"/>
                <a:cs typeface="Arial" charset="0"/>
              </a:rPr>
              <a:t>Call to Order 7:00 PM 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II. </a:t>
            </a:r>
            <a:r>
              <a:rPr lang="en-US" sz="1400" dirty="0">
                <a:latin typeface="Arial" charset="0"/>
                <a:cs typeface="Arial" charset="0"/>
              </a:rPr>
              <a:t>Establishment of a Quorum 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III. </a:t>
            </a:r>
            <a:r>
              <a:rPr lang="en-US" sz="1400" dirty="0">
                <a:latin typeface="Arial" charset="0"/>
                <a:cs typeface="Arial" charset="0"/>
              </a:rPr>
              <a:t>Proof of Notice </a:t>
            </a:r>
          </a:p>
          <a:p>
            <a:pPr indent="457200" eaLnBrk="1" hangingPunct="1">
              <a:defRPr/>
            </a:pPr>
            <a:endParaRPr lang="en-US" sz="1400" b="1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IV. </a:t>
            </a:r>
            <a:r>
              <a:rPr lang="en-US" sz="1400" dirty="0">
                <a:latin typeface="Arial" charset="0"/>
                <a:cs typeface="Arial" charset="0"/>
              </a:rPr>
              <a:t>Treasurer’s Report</a:t>
            </a:r>
          </a:p>
          <a:p>
            <a:pPr indent="457200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	a. Collection policy</a:t>
            </a:r>
          </a:p>
          <a:p>
            <a:pPr indent="457200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	b. 2024-year end financial report</a:t>
            </a:r>
          </a:p>
          <a:p>
            <a:pPr indent="457200" eaLnBrk="1" hangingPunct="1">
              <a:defRPr/>
            </a:pPr>
            <a:r>
              <a:rPr lang="en-US" sz="1400" dirty="0">
                <a:latin typeface="Arial" charset="0"/>
                <a:cs typeface="Arial" charset="0"/>
              </a:rPr>
              <a:t>	b. 2025 projected year end report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V</a:t>
            </a:r>
            <a:r>
              <a:rPr lang="en-US" sz="1400" dirty="0">
                <a:latin typeface="Arial" charset="0"/>
                <a:cs typeface="Arial" charset="0"/>
              </a:rPr>
              <a:t>, President’s Report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VII. </a:t>
            </a:r>
            <a:r>
              <a:rPr lang="en-US" sz="1400" dirty="0">
                <a:latin typeface="Arial" charset="0"/>
                <a:cs typeface="Arial" charset="0"/>
              </a:rPr>
              <a:t>Open Discussion 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indent="457200" eaLnBrk="1" hangingPunct="1">
              <a:defRPr/>
            </a:pPr>
            <a:r>
              <a:rPr lang="en-US" sz="1400" b="1" dirty="0">
                <a:latin typeface="Arial" charset="0"/>
                <a:cs typeface="Arial" charset="0"/>
              </a:rPr>
              <a:t>VIII. </a:t>
            </a:r>
            <a:r>
              <a:rPr lang="en-US" sz="1400" dirty="0">
                <a:latin typeface="Arial" charset="0"/>
                <a:cs typeface="Arial" charset="0"/>
              </a:rPr>
              <a:t>Adjournment</a:t>
            </a:r>
          </a:p>
          <a:p>
            <a:pPr indent="457200" eaLnBrk="1" hangingPunct="1">
              <a:defRPr/>
            </a:pPr>
            <a:endParaRPr lang="en-US" sz="14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0C7E91E-8D72-47E9-A732-64E824A7BE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71888" y="125413"/>
            <a:ext cx="5472112" cy="468312"/>
          </a:xfrm>
        </p:spPr>
        <p:txBody>
          <a:bodyPr/>
          <a:lstStyle/>
          <a:p>
            <a:pPr algn="r" eaLnBrk="1" hangingPunct="1"/>
            <a:r>
              <a:rPr lang="en-US" altLang="en-US" sz="2000" dirty="0"/>
              <a:t>Annual Meeting – Treasurer’s Report</a:t>
            </a:r>
          </a:p>
        </p:txBody>
      </p:sp>
      <p:sp>
        <p:nvSpPr>
          <p:cNvPr id="67590" name="Text Box 6">
            <a:extLst>
              <a:ext uri="{FF2B5EF4-FFF2-40B4-BE49-F238E27FC236}">
                <a16:creationId xmlns:a16="http://schemas.microsoft.com/office/drawing/2014/main" id="{E56C09A4-F09E-4542-9382-8BCD645D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398" y="1631644"/>
            <a:ext cx="7013575" cy="30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defRPr/>
            </a:pPr>
            <a:endParaRPr lang="en-US" sz="2400" dirty="0"/>
          </a:p>
          <a:p>
            <a:pPr eaLnBrk="1" hangingPunct="1">
              <a:buFont typeface="Wingdings" panose="05000000000000000000" pitchFamily="2" charset="2"/>
              <a:buAutoNum type="arabicParenR"/>
              <a:defRPr/>
            </a:pPr>
            <a:endParaRPr lang="en-US" sz="2400" dirty="0"/>
          </a:p>
          <a:p>
            <a:pPr eaLnBrk="1" hangingPunct="1">
              <a:buFont typeface="Wingdings" panose="05000000000000000000" pitchFamily="2" charset="2"/>
              <a:buAutoNum type="arabicParenR"/>
              <a:defRPr/>
            </a:pPr>
            <a:r>
              <a:rPr lang="en-US" sz="2400" dirty="0"/>
              <a:t>Collection Policy</a:t>
            </a:r>
          </a:p>
          <a:p>
            <a:pPr eaLnBrk="1" hangingPunct="1">
              <a:buFont typeface="Wingdings" panose="05000000000000000000" pitchFamily="2" charset="2"/>
              <a:buAutoNum type="arabicParenR"/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400" dirty="0"/>
              <a:t>2) 2025 Projected Year End Report</a:t>
            </a:r>
          </a:p>
          <a:p>
            <a:pPr eaLnBrk="1" hangingPunct="1">
              <a:buFont typeface="Wingdings" panose="05000000000000000000" pitchFamily="2" charset="2"/>
              <a:buAutoNum type="arabicParenR" startAt="2"/>
              <a:defRPr/>
            </a:pPr>
            <a:endParaRPr lang="en-US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AF79E226-22DD-4D35-A9ED-00FCA5664056}"/>
              </a:ext>
            </a:extLst>
          </p:cNvPr>
          <p:cNvSpPr>
            <a:spLocks/>
          </p:cNvSpPr>
          <p:nvPr/>
        </p:nvSpPr>
        <p:spPr bwMode="auto">
          <a:xfrm>
            <a:off x="3671888" y="153988"/>
            <a:ext cx="5472112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C10435"/>
              </a:solidFill>
              <a:latin typeface="Arial" panose="020B0604020202020204" pitchFamily="34" charset="0"/>
            </a:endParaRPr>
          </a:p>
        </p:txBody>
      </p:sp>
      <p:pic>
        <p:nvPicPr>
          <p:cNvPr id="8195" name="Picture 4">
            <a:extLst>
              <a:ext uri="{FF2B5EF4-FFF2-40B4-BE49-F238E27FC236}">
                <a16:creationId xmlns:a16="http://schemas.microsoft.com/office/drawing/2014/main" id="{6F4839CE-5D52-456A-9176-19B8A71C6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7" y="271462"/>
            <a:ext cx="7616825" cy="631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03000D6D-54BA-48A7-BE89-AC02DFFB4A6E}"/>
              </a:ext>
            </a:extLst>
          </p:cNvPr>
          <p:cNvSpPr>
            <a:spLocks/>
          </p:cNvSpPr>
          <p:nvPr/>
        </p:nvSpPr>
        <p:spPr bwMode="auto">
          <a:xfrm>
            <a:off x="1549400" y="366713"/>
            <a:ext cx="6088063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Treasurer’s Report – 2025 Spending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2B62C5-AAE3-493A-8379-57F0DD92A1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128895"/>
              </p:ext>
            </p:extLst>
          </p:nvPr>
        </p:nvGraphicFramePr>
        <p:xfrm>
          <a:off x="648049" y="847288"/>
          <a:ext cx="7847902" cy="5643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13B610F3C47649ACB7A9259C22FDAA" ma:contentTypeVersion="20" ma:contentTypeDescription="Create a new document." ma:contentTypeScope="" ma:versionID="37848e6eb1ffb9ff9656ef4887697be0">
  <xsd:schema xmlns:xsd="http://www.w3.org/2001/XMLSchema" xmlns:xs="http://www.w3.org/2001/XMLSchema" xmlns:p="http://schemas.microsoft.com/office/2006/metadata/properties" xmlns:ns1="http://schemas.microsoft.com/sharepoint/v3" xmlns:ns2="dd3f59a5-8860-43ca-bc9f-6073f022c717" xmlns:ns3="9d6ad7db-218b-4ed7-8992-e4bf2cf198b8" targetNamespace="http://schemas.microsoft.com/office/2006/metadata/properties" ma:root="true" ma:fieldsID="b70c1e1bcbad7eb1421f5a11e89d6aa2" ns1:_="" ns2:_="" ns3:_="">
    <xsd:import namespace="http://schemas.microsoft.com/sharepoint/v3"/>
    <xsd:import namespace="dd3f59a5-8860-43ca-bc9f-6073f022c717"/>
    <xsd:import namespace="9d6ad7db-218b-4ed7-8992-e4bf2cf19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f59a5-8860-43ca-bc9f-6073f022c7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51a465c0-01a5-45f4-abc4-4deef424e1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ad7db-218b-4ed7-8992-e4bf2cf198b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236f305c-d020-4686-ae91-6501809c3e0f}" ma:internalName="TaxCatchAll" ma:showField="CatchAllData" ma:web="9d6ad7db-218b-4ed7-8992-e4bf2cf198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d3f59a5-8860-43ca-bc9f-6073f022c717">
      <Terms xmlns="http://schemas.microsoft.com/office/infopath/2007/PartnerControls"/>
    </lcf76f155ced4ddcb4097134ff3c332f>
    <TaxCatchAll xmlns="9d6ad7db-218b-4ed7-8992-e4bf2cf198b8" xsi:nil="true"/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4FB74AB3-E6BD-4FB0-A2EB-1E961FD44A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d3f59a5-8860-43ca-bc9f-6073f022c717"/>
    <ds:schemaRef ds:uri="9d6ad7db-218b-4ed7-8992-e4bf2cf198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2213A1-3075-4581-85A9-357AA939C9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51F05C-E6CD-41BD-A93D-0563670D273A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9d6ad7db-218b-4ed7-8992-e4bf2cf198b8"/>
    <ds:schemaRef ds:uri="dd3f59a5-8860-43ca-bc9f-6073f022c717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95A68959-DAFF-4632-A0AD-F94D2085AB05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14646</TotalTime>
  <Words>129</Words>
  <Application>Microsoft Office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Kable’s Mill Annual Meeting</vt:lpstr>
      <vt:lpstr>Annual Meeting 2024</vt:lpstr>
      <vt:lpstr>Agenda – November 12, 2025</vt:lpstr>
      <vt:lpstr>Annual Meeting – Treasurer’s Report</vt:lpstr>
      <vt:lpstr>PowerPoint Presentation</vt:lpstr>
      <vt:lpstr>PowerPoint Presentation</vt:lpstr>
    </vt:vector>
  </TitlesOfParts>
  <Company>LexisNexis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LNG</dc:creator>
  <cp:lastModifiedBy>Julie Hacker</cp:lastModifiedBy>
  <cp:revision>1711</cp:revision>
  <cp:lastPrinted>2018-10-14T19:38:28Z</cp:lastPrinted>
  <dcterms:created xsi:type="dcterms:W3CDTF">2006-05-16T14:47:29Z</dcterms:created>
  <dcterms:modified xsi:type="dcterms:W3CDTF">2025-11-11T16:39:51Z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Editor">
    <vt:lpwstr>Josh Alford</vt:lpwstr>
  </property>
  <property fmtid="{D5CDD505-2E9C-101B-9397-08002B2CF9AE}" pid="3" name="Order">
    <vt:lpwstr>100.000000000000</vt:lpwstr>
  </property>
  <property fmtid="{D5CDD505-2E9C-101B-9397-08002B2CF9AE}" pid="4" name="display_urn:schemas-microsoft-com:office:office#Author">
    <vt:lpwstr>LNG</vt:lpwstr>
  </property>
  <property fmtid="{D5CDD505-2E9C-101B-9397-08002B2CF9AE}" pid="5" name="ContentTypeId">
    <vt:lpwstr>0x010100C013B610F3C47649ACB7A9259C22FDAA</vt:lpwstr>
  </property>
  <property fmtid="{D5CDD505-2E9C-101B-9397-08002B2CF9AE}" pid="6" name="MediaServiceImageTags">
    <vt:lpwstr/>
  </property>
</Properties>
</file>